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057400"/>
            <a:ext cx="91440" cy="160020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201168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SimpleCRM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96112" y="28346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Arkitektur, teknikval och flöden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96112" y="333756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Node.js · Express 5 · SQLite · Vanilla JS · Claude AI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040880" y="2651760"/>
            <a:ext cx="1371600" cy="731520"/>
          </a:xfrm>
          <a:prstGeom prst="roundRect">
            <a:avLst>
              <a:gd name="adj" fmla="val 5000"/>
            </a:avLst>
          </a:prstGeom>
          <a:solidFill>
            <a:srgbClr val="FFF1F3"/>
          </a:solidFill>
          <a:ln w="12700">
            <a:solidFill>
              <a:srgbClr val="FDA4AF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1D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Klient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458200" y="3017520"/>
            <a:ext cx="3200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8823960" y="2651760"/>
            <a:ext cx="1371600" cy="73152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241280" y="3017520"/>
            <a:ext cx="3200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10607040" y="2651760"/>
            <a:ext cx="1371600" cy="731520"/>
          </a:xfrm>
          <a:prstGeom prst="roundRect">
            <a:avLst>
              <a:gd name="adj" fmla="val 5000"/>
            </a:avLst>
          </a:prstGeom>
          <a:solidFill>
            <a:srgbClr val="ECFDF5"/>
          </a:solidFill>
          <a:ln w="12700">
            <a:solidFill>
              <a:srgbClr val="6EE7B7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96112" y="5120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Augusti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Systemöversikt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Node-process, en SQLite-fil, ingen byggkedja i frontend.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17320"/>
            <a:ext cx="2651760" cy="2788920"/>
          </a:xfrm>
          <a:prstGeom prst="roundRect">
            <a:avLst>
              <a:gd name="adj" fmla="val 103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490472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11D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KLIENT (WEBBLÄSARE)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13232" y="1920240"/>
            <a:ext cx="2322576" cy="548640"/>
          </a:xfrm>
          <a:prstGeom prst="roundRect">
            <a:avLst>
              <a:gd name="adj" fmla="val 6667"/>
            </a:avLst>
          </a:prstGeom>
          <a:solidFill>
            <a:srgbClr val="FFF1F3"/>
          </a:solidFill>
          <a:ln w="12700">
            <a:solidFill>
              <a:srgbClr val="FDA4AF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11D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public/index.html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HTML-skal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13232" y="2560320"/>
            <a:ext cx="2322576" cy="777240"/>
          </a:xfrm>
          <a:prstGeom prst="roundRect">
            <a:avLst>
              <a:gd name="adj" fmla="val 4706"/>
            </a:avLst>
          </a:prstGeom>
          <a:solidFill>
            <a:srgbClr val="FFF1F3"/>
          </a:solidFill>
          <a:ln w="12700">
            <a:solidFill>
              <a:srgbClr val="FDA4AF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11D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public/app.js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SPA: router, vyer, fetch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3232" y="3429000"/>
            <a:ext cx="2322576" cy="640080"/>
          </a:xfrm>
          <a:prstGeom prst="roundRect">
            <a:avLst>
              <a:gd name="adj" fmla="val 5714"/>
            </a:avLst>
          </a:prstGeom>
          <a:solidFill>
            <a:srgbClr val="FFF1F3"/>
          </a:solidFill>
          <a:ln w="12700">
            <a:solidFill>
              <a:srgbClr val="FDA4AF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11D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Tailwind CSS (CDN)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ingen build-pipeline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18688" y="2395728"/>
            <a:ext cx="7863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 · JSON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46120" y="2743200"/>
            <a:ext cx="7315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3218688" y="2816352"/>
            <a:ext cx="7863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session-cookie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023360" y="1417320"/>
            <a:ext cx="4572000" cy="4251960"/>
          </a:xfrm>
          <a:prstGeom prst="roundRect">
            <a:avLst>
              <a:gd name="adj" fmla="val 6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33088" y="1490472"/>
            <a:ext cx="4352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 — NODE.JS 18+ / EXPRESS 5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224528" y="1920240"/>
            <a:ext cx="4169664" cy="512064"/>
          </a:xfrm>
          <a:prstGeom prst="roundRect">
            <a:avLst>
              <a:gd name="adj" fmla="val 7143"/>
            </a:avLst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server.js</a:t>
            </a:r>
            <a:endParaRPr lang="en-US" sz="10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app-uppsättning, statiska filer, route-montering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224528" y="2523744"/>
            <a:ext cx="4169664" cy="512064"/>
          </a:xfrm>
          <a:prstGeom prst="roundRect">
            <a:avLst>
              <a:gd name="adj" fmla="val 7143"/>
            </a:avLst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src/middleware/</a:t>
            </a:r>
            <a:endParaRPr lang="en-US" sz="10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helmet · session · rate-limit · auth · validate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224528" y="3127248"/>
            <a:ext cx="4169664" cy="512064"/>
          </a:xfrm>
          <a:prstGeom prst="roundRect">
            <a:avLst>
              <a:gd name="adj" fmla="val 7143"/>
            </a:avLst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src/routes/ (16 moduler)</a:t>
            </a:r>
            <a:endParaRPr lang="en-US" sz="10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HTTP-lager och auktorisering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224528" y="3730752"/>
            <a:ext cx="4169664" cy="512064"/>
          </a:xfrm>
          <a:prstGeom prst="roundRect">
            <a:avLst>
              <a:gd name="adj" fmla="val 7143"/>
            </a:avLst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src/data.js</a:t>
            </a:r>
            <a:endParaRPr lang="en-US" sz="10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SQL och affärslogik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224528" y="4334256"/>
            <a:ext cx="4169664" cy="512064"/>
          </a:xfrm>
          <a:prstGeom prst="roundRect">
            <a:avLst>
              <a:gd name="adj" fmla="val 7143"/>
            </a:avLst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src/lib/</a:t>
            </a:r>
            <a:endParaRPr lang="en-US" sz="10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salary-model · docx · pdf · eml · AI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224528" y="4937760"/>
            <a:ext cx="4169664" cy="512064"/>
          </a:xfrm>
          <a:prstGeom prst="roundRect">
            <a:avLst>
              <a:gd name="adj" fmla="val 7143"/>
            </a:avLst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src/database.js</a:t>
            </a:r>
            <a:endParaRPr lang="en-US" sz="10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schema och migrationer vid start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869680" y="1417320"/>
            <a:ext cx="2743200" cy="201168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79408" y="1490472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034272" y="1901952"/>
            <a:ext cx="2414016" cy="45720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2700">
            <a:solidFill>
              <a:srgbClr val="6EE7B7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data/crm.db</a:t>
            </a:r>
            <a:endParaRPr lang="en-US" sz="10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SQLite · better-sqlite3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034272" y="2423160"/>
            <a:ext cx="2414016" cy="45720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2700">
            <a:solidFill>
              <a:srgbClr val="6EE7B7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data/sessions.db</a:t>
            </a:r>
            <a:endParaRPr lang="en-US" sz="10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connect-sqlite3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034272" y="2944368"/>
            <a:ext cx="2414016" cy="411480"/>
          </a:xfrm>
          <a:prstGeom prst="roundRect">
            <a:avLst>
              <a:gd name="adj" fmla="val 8889"/>
            </a:avLst>
          </a:prstGeom>
          <a:solidFill>
            <a:srgbClr val="ECFDF5"/>
          </a:solidFill>
          <a:ln w="12700">
            <a:solidFill>
              <a:srgbClr val="6EE7B7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uploads/</a:t>
            </a:r>
            <a:endParaRPr lang="en-US" sz="10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CV, .docx, .pdf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613648" y="2377440"/>
            <a:ext cx="219456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869680" y="3749040"/>
            <a:ext cx="2743200" cy="192024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79408" y="3822192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EXTERNT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034272" y="4224528"/>
            <a:ext cx="2414016" cy="45720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 w="12700">
            <a:solidFill>
              <a:srgbClr val="C4B5FD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Anthropic API</a:t>
            </a:r>
            <a:endParaRPr lang="en-US" sz="10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 — klassificering, matchning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034272" y="4745736"/>
            <a:ext cx="2414016" cy="411480"/>
          </a:xfrm>
          <a:prstGeom prst="roundRect">
            <a:avLst>
              <a:gd name="adj" fmla="val 8889"/>
            </a:avLst>
          </a:prstGeom>
          <a:solidFill>
            <a:srgbClr val="F5F3FF"/>
          </a:solidFill>
          <a:ln w="12700">
            <a:solidFill>
              <a:srgbClr val="C4B5FD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Outlook</a:t>
            </a:r>
            <a:endParaRPr lang="en-US" sz="10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.eml-utkast med bilagor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034272" y="5221224"/>
            <a:ext cx="2414016" cy="384048"/>
          </a:xfrm>
          <a:prstGeom prst="roundRect">
            <a:avLst>
              <a:gd name="adj" fmla="val 9524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Coderbyte (planerad)</a:t>
            </a:r>
            <a:endParaRPr lang="en-US" sz="10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assessments &amp; invites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613648" y="4663440"/>
            <a:ext cx="219456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SimpleCRM · Arkitektur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Teknikval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Minimala beroenden — varje val ska gå att motivera på en rad.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291840"/>
                <a:gridCol w="585216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Lager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Teknik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Varför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Runtime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Node.js 18+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Bred hosting, inget byggsteg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Backend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Express 5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Minimal routing, välkänt API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Databas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SQLite via better-sqlite3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Synkront API, ingen separat serverprocess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Sessioner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express-session + connect-sqlite3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Överlever omstart, ligger på samma volym som datan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Auth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bcryptjs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Lösenordshash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Frontend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HTML + vanilla JS (public/app.js)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Ingen build, en fil att ändra i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Styling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Tailwind CSS via CDN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Modern yta utan pipeline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Filuppladdning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multer + magic-byte-validering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Innehållet avgör filtypen, inte filändelsen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DOCX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unzipper + archiver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Avtalsmallen är en zip — {{PLACEHOLDER}} byts i word/document.xml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PDF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pdfkit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Lönebilagan renderas i kod, inte som mall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CV-text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pdf-parse + mammoth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Extraheras en gång per fil och sparas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AI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@anthropic-ai/sdk (Claude)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E-postklassificering, CV-tolkning, kandidatmatchning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Säkerhet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helmet + express-rate-limit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CSP/HSTS · 240 API-anrop/min per användare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Drift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Railway + volym på /data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DB och uppladdningar på samma disk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SimpleCRM · Arkitektur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Vägen genom ett API-anrop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Varje lager har ett jobb — och auktorisationen ligger längst ner, inte i routen.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71600"/>
            <a:ext cx="4572000" cy="475488"/>
          </a:xfrm>
          <a:prstGeom prst="roundRect">
            <a:avLst>
              <a:gd name="adj" fmla="val 7692"/>
            </a:avLst>
          </a:prstGeom>
          <a:solidFill>
            <a:srgbClr val="FFF1F3"/>
          </a:solidFill>
          <a:ln w="12700">
            <a:solidFill>
              <a:srgbClr val="FDA4AF"/>
            </a:solidFill>
          </a:ln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11D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Webbläsare: fetch('/api/...')</a:t>
            </a:r>
            <a:endParaRPr lang="en-US" sz="11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session-cookie följer med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956816"/>
            <a:ext cx="4572000" cy="475488"/>
          </a:xfrm>
          <a:prstGeom prst="roundRect">
            <a:avLst>
              <a:gd name="adj" fmla="val 7692"/>
            </a:avLst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helmet</a:t>
            </a:r>
            <a:endParaRPr lang="en-US" sz="11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CSP, HSTS, nosniff, X-Frame-Options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542032"/>
            <a:ext cx="4572000" cy="475488"/>
          </a:xfrm>
          <a:prstGeom prst="roundRect">
            <a:avLst>
              <a:gd name="adj" fmla="val 7692"/>
            </a:avLst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express-rate-limit</a:t>
            </a:r>
            <a:endParaRPr lang="en-US" sz="11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 20/15 min per IP · API 240/min per användare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3127248"/>
            <a:ext cx="4572000" cy="475488"/>
          </a:xfrm>
          <a:prstGeom prst="roundRect">
            <a:avLst>
              <a:gd name="adj" fmla="val 7692"/>
            </a:avLst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express-session</a:t>
            </a:r>
            <a:endParaRPr lang="en-US" sz="11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sessionen läses ur sessions.db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3712464"/>
            <a:ext cx="4572000" cy="475488"/>
          </a:xfrm>
          <a:prstGeom prst="roundRect">
            <a:avLst>
              <a:gd name="adj" fmla="val 7692"/>
            </a:avLst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requireAuth</a:t>
            </a:r>
            <a:endParaRPr lang="en-US" sz="11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teammedlemskapet omvalideras vid varje anrop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4297680"/>
            <a:ext cx="4572000" cy="475488"/>
          </a:xfrm>
          <a:prstGeom prst="roundRect">
            <a:avLst>
              <a:gd name="adj" fmla="val 7692"/>
            </a:avLst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 + file-validate</a:t>
            </a:r>
            <a:endParaRPr lang="en-US" sz="11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fältlängder, magic bytes på uppladdningar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4882896"/>
            <a:ext cx="4572000" cy="475488"/>
          </a:xfrm>
          <a:prstGeom prst="roundRect">
            <a:avLst>
              <a:gd name="adj" fmla="val 7692"/>
            </a:avLst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src/routes/*</a:t>
            </a:r>
            <a:endParaRPr lang="en-US" sz="11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HTTP-form och behörighetskontroll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5468112"/>
            <a:ext cx="4572000" cy="475488"/>
          </a:xfrm>
          <a:prstGeom prst="roundRect">
            <a:avLst>
              <a:gd name="adj" fmla="val 7692"/>
            </a:avLst>
          </a:prstGeom>
          <a:solidFill>
            <a:srgbClr val="ECFDF5"/>
          </a:solidFill>
          <a:ln w="12700">
            <a:solidFill>
              <a:srgbClr val="6EE7B7"/>
            </a:solidFill>
          </a:ln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src/data.js → SQLite</a:t>
            </a:r>
            <a:endParaRPr lang="en-US" sz="11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prepared statements, transaktioner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" y="1417320"/>
            <a:ext cx="0" cy="4434840"/>
          </a:xfrm>
          <a:prstGeom prst="line">
            <a:avLst/>
          </a:prstGeom>
          <a:noFill/>
          <a:ln w="19050">
            <a:solidFill>
              <a:srgbClr val="E11D4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715000" y="1371600"/>
            <a:ext cx="5897880" cy="4663440"/>
          </a:xfrm>
          <a:prstGeom prst="roundRect">
            <a:avLst>
              <a:gd name="adj" fmla="val 58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24728" y="1444752"/>
            <a:ext cx="5678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VARFÖR SÅ HÄR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897880" y="1783080"/>
            <a:ext cx="55321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Rate-limit räknas per användare, inte per IP — ett helt kontor delar utgående IP, så en IP-baserad budget gjorde att kollegor strypte varandra.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 två status-endpointsen (AI-inkorg och matchning) är undantagna, så ett långt AI-jobb inte äter upp budgeten för vanligt arbete.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requireAuth läser om teammedlemskapet vid varje anrop. En borttagen medlem tappar åtkomsten direkt, utan att behöva loggas ut.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scoping mot användare/team sker i data.js. Ett nytt route-lager kan alltså inte glömma bort den.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better-sqlite3 är synkront: ingen halvskriven state mellan läsning och skrivning i samma anrop, och sammanhängande skrivningar körs i transaktion.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Verifiering sker med ett enda kommando — node scripts/smoke.mjs startar servern på en slask-DB, kör kontrollerna och river ner.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SimpleCRM · Arkitektur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Datamodell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SQLite-fil. Varje rad bär user_id och created_by — data.js scopar mot solo-användaren eller teamet.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394960" cy="219456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444752"/>
            <a:ext cx="51755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11D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KONTON &amp; TEAM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77240" y="1874520"/>
            <a:ext cx="1828800" cy="548640"/>
          </a:xfrm>
          <a:prstGeom prst="roundRect">
            <a:avLst>
              <a:gd name="adj" fmla="val 6667"/>
            </a:avLst>
          </a:prstGeom>
          <a:solidFill>
            <a:srgbClr val="FFF1F3"/>
          </a:solidFill>
          <a:ln w="12700">
            <a:solidFill>
              <a:srgbClr val="FDA4AF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11D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697480" y="2148840"/>
            <a:ext cx="457200" cy="0"/>
          </a:xfrm>
          <a:prstGeom prst="line">
            <a:avLst/>
          </a:prstGeom>
          <a:noFill/>
          <a:ln w="19050">
            <a:solidFill>
              <a:srgbClr val="E11D48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2651760" y="1856232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1:N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200400" y="1874520"/>
            <a:ext cx="1828800" cy="548640"/>
          </a:xfrm>
          <a:prstGeom prst="roundRect">
            <a:avLst>
              <a:gd name="adj" fmla="val 6667"/>
            </a:avLst>
          </a:prstGeom>
          <a:solidFill>
            <a:srgbClr val="FFF1F3"/>
          </a:solidFill>
          <a:ln w="12700">
            <a:solidFill>
              <a:srgbClr val="FDA4AF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11D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77240" y="260604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team_invitations · roller: solo / owner / member · borttagen medlem behåller inte datan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63640" y="1371600"/>
            <a:ext cx="5349240" cy="219456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3368" y="1444752"/>
            <a:ext cx="5129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CRM-KÄRNA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446520" y="1874520"/>
            <a:ext cx="1417320" cy="548640"/>
          </a:xfrm>
          <a:prstGeom prst="roundRect">
            <a:avLst>
              <a:gd name="adj" fmla="val 6667"/>
            </a:avLst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companies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936992" y="2148840"/>
            <a:ext cx="384048" cy="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8366760" y="1874520"/>
            <a:ext cx="1371600" cy="548640"/>
          </a:xfrm>
          <a:prstGeom prst="roundRect">
            <a:avLst>
              <a:gd name="adj" fmla="val 6667"/>
            </a:avLst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contacts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802368" y="2148840"/>
            <a:ext cx="384048" cy="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10241280" y="1874520"/>
            <a:ext cx="1188720" cy="548640"/>
          </a:xfrm>
          <a:prstGeom prst="roundRect">
            <a:avLst>
              <a:gd name="adj" fmla="val 6667"/>
            </a:avLst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46520" y="260604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todos · checklists · arkivering är soft delete och kan återställas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749040"/>
            <a:ext cx="5394960" cy="219456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3822192"/>
            <a:ext cx="51755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KANDIDATER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77240" y="4251960"/>
            <a:ext cx="1371600" cy="548640"/>
          </a:xfrm>
          <a:prstGeom prst="roundRect">
            <a:avLst>
              <a:gd name="adj" fmla="val 6667"/>
            </a:avLst>
          </a:prstGeom>
          <a:solidFill>
            <a:srgbClr val="ECFDF5"/>
          </a:solidFill>
          <a:ln w="12700">
            <a:solidFill>
              <a:srgbClr val="6EE7B7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candidate_files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212848" y="4526280"/>
            <a:ext cx="41148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  <a:headEnd type="triangle"/>
          </a:ln>
        </p:spPr>
      </p:sp>
      <p:sp>
        <p:nvSpPr>
          <p:cNvPr id="24" name="Text 22"/>
          <p:cNvSpPr/>
          <p:nvPr/>
        </p:nvSpPr>
        <p:spPr>
          <a:xfrm>
            <a:off x="2697480" y="4251960"/>
            <a:ext cx="1417320" cy="548640"/>
          </a:xfrm>
          <a:prstGeom prst="roundRect">
            <a:avLst>
              <a:gd name="adj" fmla="val 6667"/>
            </a:avLst>
          </a:prstGeom>
          <a:solidFill>
            <a:srgbClr val="ECFDF5"/>
          </a:solidFill>
          <a:ln w="12700">
            <a:solidFill>
              <a:srgbClr val="6EE7B7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178808" y="4526280"/>
            <a:ext cx="41148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4663440" y="4251960"/>
            <a:ext cx="1097280" cy="548640"/>
          </a:xfrm>
          <a:prstGeom prst="roundRect">
            <a:avLst>
              <a:gd name="adj" fmla="val 6667"/>
            </a:avLst>
          </a:prstGeom>
          <a:solidFill>
            <a:srgbClr val="ECFDF5"/>
          </a:solidFill>
          <a:ln w="12700">
            <a:solidFill>
              <a:srgbClr val="6EE7B7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candidate_offers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77240" y="498348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profile_json · skill_tags · resume_text — CV:t tolkas en gång per fil, aldrig på matchningsvägen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63640" y="3749040"/>
            <a:ext cx="5349240" cy="219456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73368" y="3822192"/>
            <a:ext cx="5129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MATCHNING &amp; AI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446520" y="4251960"/>
            <a:ext cx="1600200" cy="548640"/>
          </a:xfrm>
          <a:prstGeom prst="roundRect">
            <a:avLst>
              <a:gd name="adj" fmla="val 6667"/>
            </a:avLst>
          </a:prstGeom>
          <a:solidFill>
            <a:srgbClr val="F5F3FF"/>
          </a:solidFill>
          <a:ln w="12700">
            <a:solidFill>
              <a:srgbClr val="C4B5FD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consultant_requests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110728" y="4526280"/>
            <a:ext cx="365760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8549640" y="4251960"/>
            <a:ext cx="1371600" cy="548640"/>
          </a:xfrm>
          <a:prstGeom prst="roundRect">
            <a:avLst>
              <a:gd name="adj" fmla="val 6667"/>
            </a:avLst>
          </a:prstGeom>
          <a:solidFill>
            <a:srgbClr val="F5F3FF"/>
          </a:solidFill>
          <a:ln w="12700">
            <a:solidFill>
              <a:srgbClr val="C4B5FD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request_matches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9985248" y="4526280"/>
            <a:ext cx="365760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10424160" y="4251960"/>
            <a:ext cx="1005840" cy="548640"/>
          </a:xfrm>
          <a:prstGeom prst="roundRect">
            <a:avLst>
              <a:gd name="adj" fmla="val 6667"/>
            </a:avLst>
          </a:prstGeom>
          <a:solidFill>
            <a:srgbClr val="F5F3FF"/>
          </a:solidFill>
          <a:ln w="12700">
            <a:solidFill>
              <a:srgbClr val="C4B5FD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request_match_cache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446520" y="498348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inbox_emails · user_emails — AI-inkorgen med klassificerad e-post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SimpleCRM · Arkitektur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AI-pipelinen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Kostnaden för en matchning ska inte växa med CV-bibliotekets storlek.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2588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· När ett CV läggs till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627632"/>
            <a:ext cx="1828800" cy="868680"/>
          </a:xfrm>
          <a:prstGeom prst="roundRect">
            <a:avLst>
              <a:gd name="adj" fmla="val 4211"/>
            </a:avLst>
          </a:prstGeom>
          <a:solidFill>
            <a:srgbClr val="F5F3FF"/>
          </a:solidFill>
          <a:ln w="12700">
            <a:solidFill>
              <a:srgbClr val="C4B5FD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CV (PDF/DOCX)</a:t>
            </a:r>
            <a:endParaRPr lang="en-US" sz="10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uppladdat eller från AI-inkorgen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423160" y="2057400"/>
            <a:ext cx="292608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2761488" y="1627632"/>
            <a:ext cx="1828800" cy="868680"/>
          </a:xfrm>
          <a:prstGeom prst="roundRect">
            <a:avLst>
              <a:gd name="adj" fmla="val 4211"/>
            </a:avLst>
          </a:prstGeom>
          <a:solidFill>
            <a:srgbClr val="F5F3FF"/>
          </a:solidFill>
          <a:ln w="12700">
            <a:solidFill>
              <a:srgbClr val="C4B5FD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resume-parser</a:t>
            </a:r>
            <a:endParaRPr lang="en-US" sz="10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pdf-parse · mammoth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36008" y="2057400"/>
            <a:ext cx="292608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4974336" y="1627632"/>
            <a:ext cx="1828800" cy="868680"/>
          </a:xfrm>
          <a:prstGeom prst="roundRect">
            <a:avLst>
              <a:gd name="adj" fmla="val 4211"/>
            </a:avLst>
          </a:prstGeom>
          <a:solidFill>
            <a:srgbClr val="F5F3FF"/>
          </a:solidFill>
          <a:ln w="12700">
            <a:solidFill>
              <a:srgbClr val="C4B5FD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scrubPII</a:t>
            </a:r>
            <a:endParaRPr lang="en-US" sz="10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identifierare bort före AI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848856" y="2057400"/>
            <a:ext cx="292608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7187184" y="1627632"/>
            <a:ext cx="1828800" cy="868680"/>
          </a:xfrm>
          <a:prstGeom prst="roundRect">
            <a:avLst>
              <a:gd name="adj" fmla="val 4211"/>
            </a:avLst>
          </a:prstGeom>
          <a:solidFill>
            <a:srgbClr val="F5F3FF"/>
          </a:solidFill>
          <a:ln w="12700">
            <a:solidFill>
              <a:srgbClr val="C4B5FD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profile-distiller</a:t>
            </a:r>
            <a:endParaRPr lang="en-US" sz="10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 → ~400 tokens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061704" y="2057400"/>
            <a:ext cx="292608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9400032" y="1627632"/>
            <a:ext cx="1828800" cy="868680"/>
          </a:xfrm>
          <a:prstGeom prst="roundRect">
            <a:avLst>
              <a:gd name="adj" fmla="val 4211"/>
            </a:avLst>
          </a:prstGeom>
          <a:solidFill>
            <a:srgbClr val="ECFDF5"/>
          </a:solidFill>
          <a:ln w="12700">
            <a:solidFill>
              <a:srgbClr val="6EE7B7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profile_json + skill_tags</a:t>
            </a:r>
            <a:endParaRPr lang="en-US" sz="10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sparas på kandidaten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288036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· När en konsultförfrågan matchas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182112"/>
            <a:ext cx="1828800" cy="868680"/>
          </a:xfrm>
          <a:prstGeom prst="roundRect">
            <a:avLst>
              <a:gd name="adj" fmla="val 4211"/>
            </a:avLst>
          </a:prstGeom>
          <a:solidFill>
            <a:srgbClr val="F5F3FF"/>
          </a:solidFill>
          <a:ln w="12700">
            <a:solidFill>
              <a:srgbClr val="C4B5FD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Konsultförfrågan</a:t>
            </a:r>
            <a:endParaRPr lang="en-US" sz="10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krav och beskrivning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423160" y="3611880"/>
            <a:ext cx="292608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2761488" y="3182112"/>
            <a:ext cx="1828800" cy="868680"/>
          </a:xfrm>
          <a:prstGeom prst="roundRect">
            <a:avLst>
              <a:gd name="adj" fmla="val 4211"/>
            </a:avLst>
          </a:prstGeom>
          <a:solidFill>
            <a:srgbClr val="F5F3FF"/>
          </a:solidFill>
          <a:ln w="12700">
            <a:solidFill>
              <a:srgbClr val="C4B5FD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skills.js prefilter</a:t>
            </a:r>
            <a:endParaRPr lang="en-US" sz="10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lokalt, ~80 kandidater, 0 AI-anrop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36008" y="3611880"/>
            <a:ext cx="292608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4974336" y="3182112"/>
            <a:ext cx="1828800" cy="868680"/>
          </a:xfrm>
          <a:prstGeom prst="roundRect">
            <a:avLst>
              <a:gd name="adj" fmla="val 4211"/>
            </a:avLst>
          </a:prstGeom>
          <a:solidFill>
            <a:srgbClr val="F5F3FF"/>
          </a:solidFill>
          <a:ln w="12700">
            <a:solidFill>
              <a:srgbClr val="C4B5FD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Chunkad scoring</a:t>
            </a:r>
            <a:endParaRPr lang="en-US" sz="10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Claude, 40 kandidater per anrop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848856" y="3611880"/>
            <a:ext cx="292608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7187184" y="3182112"/>
            <a:ext cx="1828800" cy="868680"/>
          </a:xfrm>
          <a:prstGeom prst="roundRect">
            <a:avLst>
              <a:gd name="adj" fmla="val 4211"/>
            </a:avLst>
          </a:prstGeom>
          <a:solidFill>
            <a:srgbClr val="F5F3FF"/>
          </a:solidFill>
          <a:ln w="12700">
            <a:solidFill>
              <a:srgbClr val="C4B5FD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request_match_cache</a:t>
            </a:r>
            <a:endParaRPr lang="en-US" sz="10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 par, fingeravtryck på texten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061704" y="3611880"/>
            <a:ext cx="292608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9400032" y="3182112"/>
            <a:ext cx="1828800" cy="868680"/>
          </a:xfrm>
          <a:prstGeom prst="roundRect">
            <a:avLst>
              <a:gd name="adj" fmla="val 4211"/>
            </a:avLst>
          </a:prstGeom>
          <a:solidFill>
            <a:srgbClr val="FFF1F3"/>
          </a:solidFill>
          <a:ln w="12700">
            <a:solidFill>
              <a:srgbClr val="FDA4AF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11D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Matchlista i UI</a:t>
            </a:r>
            <a:endParaRPr lang="en-US" sz="10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topp 3 på kandidatvyn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4434840"/>
            <a:ext cx="11064240" cy="16002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" y="4507992"/>
            <a:ext cx="10844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 FYRA GREPPEN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31520" y="475488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Distillerad profil i stället för rå CV-text: ~400 tokens mot ~1300 — billigare, och matchar bättre eftersom rå CV mest är försättsblad och kontaktuppgifter.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Lokalt skill-prefilter väljer ut vilka som är värda att poängsätta. Kandidatsidan breddas (S3 ⇒ AWS ⇒ moln), kravsidan tas bokstavligt.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Per-par-cache: oförändrade par poängsätts inte om. Fingeravtrycket hashar texten som skickades — ingen invalideringslogik som kan bli inaktuell.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Promptordning anpassad efter Anthropics prefix-cache: rubrik och kandidater först, förfrågan sist.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SimpleCRM · Arkitektur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Anställningserbjudande — från kalkyl till Outlook-utkast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Ett submit producerar tre artefakter och en spårbar rad i databasen.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2560320" cy="731520"/>
          </a:xfrm>
          <a:prstGeom prst="roundRect">
            <a:avLst>
              <a:gd name="adj" fmla="val 5000"/>
            </a:avLst>
          </a:prstGeom>
          <a:solidFill>
            <a:srgbClr val="FFF1F3"/>
          </a:solidFill>
          <a:ln w="12700">
            <a:solidFill>
              <a:srgbClr val="FDA4AF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11D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 i app.js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lönekalkylator + förhandsvisning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154680" y="1920240"/>
            <a:ext cx="320040" cy="0"/>
          </a:xfrm>
          <a:prstGeom prst="line">
            <a:avLst/>
          </a:prstGeom>
          <a:noFill/>
          <a:ln w="19050">
            <a:solidFill>
              <a:srgbClr val="E11D48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3520440" y="1554480"/>
            <a:ext cx="2926080" cy="73152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 /api/candidates/:id/offers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validering och behörighet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92240" y="1920240"/>
            <a:ext cx="320040" cy="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6858000" y="1554480"/>
            <a:ext cx="2377440" cy="73152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salary-model.js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12-månadersmodellen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46720" y="2286000"/>
            <a:ext cx="0" cy="32004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94560" y="2606040"/>
            <a:ext cx="722376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94560" y="2606040"/>
            <a:ext cx="0" cy="22860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806440" y="2606040"/>
            <a:ext cx="0" cy="22860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418320" y="2606040"/>
            <a:ext cx="0" cy="22860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548640" y="2834640"/>
            <a:ext cx="3291840" cy="777240"/>
          </a:xfrm>
          <a:prstGeom prst="roundRect">
            <a:avLst>
              <a:gd name="adj" fmla="val 4706"/>
            </a:avLst>
          </a:prstGeom>
          <a:solidFill>
            <a:srgbClr val="ECFDF5"/>
          </a:solidFill>
          <a:ln w="12700">
            <a:solidFill>
              <a:srgbClr val="6EE7B7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contract-template.js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fyller {{PLACEHOLDER}} i .docx-mallen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60520" y="2834640"/>
            <a:ext cx="3291840" cy="777240"/>
          </a:xfrm>
          <a:prstGeom prst="roundRect">
            <a:avLst>
              <a:gd name="adj" fmla="val 4706"/>
            </a:avLst>
          </a:prstGeom>
          <a:solidFill>
            <a:srgbClr val="ECFDF5"/>
          </a:solidFill>
          <a:ln w="12700">
            <a:solidFill>
              <a:srgbClr val="6EE7B7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offer-pdf.js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lönebilaga i pdfkit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0" y="2834640"/>
            <a:ext cx="3291840" cy="777240"/>
          </a:xfrm>
          <a:prstGeom prst="roundRect">
            <a:avLst>
              <a:gd name="adj" fmla="val 4706"/>
            </a:avLst>
          </a:prstGeom>
          <a:solidFill>
            <a:srgbClr val="FFFBEB"/>
          </a:solidFill>
          <a:ln w="12700">
            <a:solidFill>
              <a:srgbClr val="FCD34D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candidate_offers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snapshot av indata + hela uträkningen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194560" y="3611880"/>
            <a:ext cx="0" cy="22860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94560" y="3840480"/>
            <a:ext cx="361188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06440" y="3611880"/>
            <a:ext cx="0" cy="22860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06440" y="3840480"/>
            <a:ext cx="0" cy="27432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4160520" y="4114800"/>
            <a:ext cx="3291840" cy="73152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eml-builder.js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X-Unsent: 1 · båda bilagorna base64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806440" y="4846320"/>
            <a:ext cx="0" cy="41148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4160520" y="5257800"/>
            <a:ext cx="3291840" cy="640080"/>
          </a:xfrm>
          <a:prstGeom prst="roundRect">
            <a:avLst>
              <a:gd name="adj" fmla="val 5714"/>
            </a:avLst>
          </a:prstGeom>
          <a:solidFill>
            <a:srgbClr val="FFF1F3"/>
          </a:solidFill>
          <a:ln w="12700">
            <a:solidFill>
              <a:srgbClr val="FDA4AF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11D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Outlook-utkast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laddas ner i webbläsaren och öppnas lokalt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772400" y="4114800"/>
            <a:ext cx="3840480" cy="17830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82128" y="4187952"/>
            <a:ext cx="3621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SPÅRBARHET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955280" y="4434840"/>
            <a:ext cx="3520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Varje submit skapar en ny rad och nya filer — tidigare versioner finns kvar.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"Revidera" förifyller modalen med det gamla erbjudandets värden.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Avtalstexten byggs av scripts/build-contract-template.js från källdokumentet.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SimpleCRM · Arkitektur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Säkerhet &amp; drift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Skyddet sitter i lager, och datan ligger på en volym som överlever deployer.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394960" cy="3291840"/>
          </a:xfrm>
          <a:prstGeom prst="roundRect">
            <a:avLst>
              <a:gd name="adj" fmla="val 8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444752"/>
            <a:ext cx="51755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11D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SÄKERHET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50292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bcryptjs-hashade lösenord, sessioner i SQLite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helmet: CSP, HSTS, nosniff, X-Frame-Options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Rate limit: 20 inloggningsförsök/15 min per IP, 240 API-anrop/min per användare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Uppladdade filer valideras på magic bytes, inte filändelse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Team-scoping i datalagret, inte i route-lagret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PII skrubbas innan CV-text går till Claude — DPIA finns i docs/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Kvarstår: lösenordskomplexitet, gränser vid backup-import, inaktivitetstimeout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63640" y="1371600"/>
            <a:ext cx="5349240" cy="3291840"/>
          </a:xfrm>
          <a:prstGeom prst="roundRect">
            <a:avLst>
              <a:gd name="adj" fmla="val 8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73368" y="1444752"/>
            <a:ext cx="5129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DRIFT &amp; DATA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446520" y="1737360"/>
            <a:ext cx="49834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Railway med volym monterad på /data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DATABASE_PATH=/data/crm.db, uppladdningar i /data/uploads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Miljövariabler: SESSION_SECRET, ANTHROPIC_API_KEY, AI_*-tuning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Migrationer körs vid start i src/database.js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Backup: ZIP-export och -import av hela datamängden inklusive filer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Verifiering: node scripts/smoke.mjs — egen DB, egen port, ett kommando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5029200"/>
            <a:ext cx="2194560" cy="77724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push till master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88920" y="5413248"/>
            <a:ext cx="2286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3063240" y="5029200"/>
            <a:ext cx="2194560" cy="77724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Railway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bygger och startar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03520" y="5413248"/>
            <a:ext cx="2286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5577840" y="5029200"/>
            <a:ext cx="2194560" cy="77724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Node-process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server.js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818120" y="5413248"/>
            <a:ext cx="2286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8092440" y="5029200"/>
            <a:ext cx="3520440" cy="777240"/>
          </a:xfrm>
          <a:prstGeom prst="roundRect">
            <a:avLst>
              <a:gd name="adj" fmla="val 4706"/>
            </a:avLst>
          </a:prstGeom>
          <a:solidFill>
            <a:srgbClr val="ECFDF5"/>
          </a:solidFill>
          <a:ln w="12700">
            <a:solidFill>
              <a:srgbClr val="6EE7B7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Volym /data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crm.db · sessions.db · uploads/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SimpleCRM · Arkitektur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Nästa integration: Coderbyte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Bjud in kandidaten till ett kodtest utan att lämna kandidatvyn.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78440" y="320040"/>
            <a:ext cx="1234440" cy="310896"/>
          </a:xfrm>
          <a:prstGeom prst="roundRect">
            <a:avLst>
              <a:gd name="adj" fmla="val 147059"/>
            </a:avLst>
          </a:prstGeom>
          <a:solidFill>
            <a:srgbClr val="FFFBEB"/>
          </a:solidFill>
          <a:ln w="12700">
            <a:solidFill>
              <a:srgbClr val="FCD34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PLANERAD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· Hämta testerna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2606040" cy="822960"/>
          </a:xfrm>
          <a:prstGeom prst="roundRect">
            <a:avLst>
              <a:gd name="adj" fmla="val 4444"/>
            </a:avLst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SimpleCRM</a:t>
            </a:r>
            <a:endParaRPr lang="en-US" sz="10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kandidatvyn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72968" y="2057400"/>
            <a:ext cx="237744" cy="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3429000" y="1645920"/>
            <a:ext cx="2606040" cy="822960"/>
          </a:xfrm>
          <a:prstGeom prst="roundRect">
            <a:avLst>
              <a:gd name="adj" fmla="val 4444"/>
            </a:avLst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/organization/assessments</a:t>
            </a:r>
            <a:endParaRPr lang="en-US" sz="10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Bearer API-nyckel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53328" y="2057400"/>
            <a:ext cx="237744" cy="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6309360" y="1645920"/>
            <a:ext cx="2606040" cy="822960"/>
          </a:xfrm>
          <a:prstGeom prst="roundRect">
            <a:avLst>
              <a:gd name="adj" fmla="val 4444"/>
            </a:avLst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Cachas lokalt</a:t>
            </a:r>
            <a:endParaRPr lang="en-US" sz="10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display_name · test_id · public_url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933688" y="2057400"/>
            <a:ext cx="237744" cy="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9189720" y="1645920"/>
            <a:ext cx="2606040" cy="822960"/>
          </a:xfrm>
          <a:prstGeom prst="roundRect">
            <a:avLst>
              <a:gd name="adj" fmla="val 4444"/>
            </a:avLst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Dropdown i UI</a:t>
            </a:r>
            <a:endParaRPr lang="en-US" sz="10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stängda tester filtreras bort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285292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· Bjud in kandidaten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127248"/>
            <a:ext cx="2606040" cy="822960"/>
          </a:xfrm>
          <a:prstGeom prst="roundRect">
            <a:avLst>
              <a:gd name="adj" fmla="val 4444"/>
            </a:avLst>
          </a:prstGeom>
          <a:solidFill>
            <a:srgbClr val="FFF1F3"/>
          </a:solidFill>
          <a:ln w="12700">
            <a:solidFill>
              <a:srgbClr val="FDA4AF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11D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 av test + kandidat</a:t>
            </a:r>
            <a:endParaRPr lang="en-US" sz="10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från kandidatvyn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172968" y="3538728"/>
            <a:ext cx="237744" cy="0"/>
          </a:xfrm>
          <a:prstGeom prst="line">
            <a:avLst/>
          </a:prstGeom>
          <a:noFill/>
          <a:ln w="19050">
            <a:solidFill>
              <a:srgbClr val="E11D48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3429000" y="3127248"/>
            <a:ext cx="2606040" cy="822960"/>
          </a:xfrm>
          <a:prstGeom prst="roundRect">
            <a:avLst>
              <a:gd name="adj" fmla="val 4444"/>
            </a:avLst>
          </a:prstGeom>
          <a:solidFill>
            <a:srgbClr val="FFF1F3"/>
          </a:solidFill>
          <a:ln w="12700">
            <a:solidFill>
              <a:srgbClr val="FDA4AF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11D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 /candidates/invite</a:t>
            </a:r>
            <a:endParaRPr lang="en-US" sz="10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assessment_url = public_url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53328" y="3538728"/>
            <a:ext cx="237744" cy="0"/>
          </a:xfrm>
          <a:prstGeom prst="line">
            <a:avLst/>
          </a:prstGeom>
          <a:noFill/>
          <a:ln w="19050">
            <a:solidFill>
              <a:srgbClr val="E11D48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6309360" y="3127248"/>
            <a:ext cx="2606040" cy="822960"/>
          </a:xfrm>
          <a:prstGeom prst="roundRect">
            <a:avLst>
              <a:gd name="adj" fmla="val 4444"/>
            </a:avLst>
          </a:prstGeom>
          <a:solidFill>
            <a:srgbClr val="FFF1F3"/>
          </a:solidFill>
          <a:ln w="12700">
            <a:solidFill>
              <a:srgbClr val="FDA4AF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11D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Unik engångslänk</a:t>
            </a:r>
            <a:endParaRPr lang="en-US" sz="10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 kandidat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933688" y="3538728"/>
            <a:ext cx="237744" cy="0"/>
          </a:xfrm>
          <a:prstGeom prst="line">
            <a:avLst/>
          </a:prstGeom>
          <a:noFill/>
          <a:ln w="19050">
            <a:solidFill>
              <a:srgbClr val="E11D48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9189720" y="3127248"/>
            <a:ext cx="2606040" cy="822960"/>
          </a:xfrm>
          <a:prstGeom prst="roundRect">
            <a:avLst>
              <a:gd name="adj" fmla="val 4444"/>
            </a:avLst>
          </a:prstGeom>
          <a:solidFill>
            <a:srgbClr val="FFF1F3"/>
          </a:solidFill>
          <a:ln w="12700">
            <a:solidFill>
              <a:srgbClr val="FDA4AF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11D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Mejl</a:t>
            </a:r>
            <a:endParaRPr lang="en-US" sz="10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från Coderbyte eller eget .eml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4334256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· Ta emot resultatet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4608576"/>
            <a:ext cx="2606040" cy="822960"/>
          </a:xfrm>
          <a:prstGeom prst="roundRect">
            <a:avLst>
              <a:gd name="adj" fmla="val 4444"/>
            </a:avLst>
          </a:prstGeom>
          <a:solidFill>
            <a:srgbClr val="ECFDF5"/>
          </a:solidFill>
          <a:ln w="12700">
            <a:solidFill>
              <a:srgbClr val="6EE7B7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Webhook assessment_completed</a:t>
            </a:r>
            <a:endParaRPr lang="en-US" sz="10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JWT HS256, verifieras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172968" y="5020056"/>
            <a:ext cx="237744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3429000" y="4608576"/>
            <a:ext cx="2606040" cy="822960"/>
          </a:xfrm>
          <a:prstGeom prst="roundRect">
            <a:avLst>
              <a:gd name="adj" fmla="val 4444"/>
            </a:avLst>
          </a:prstGeom>
          <a:solidFill>
            <a:srgbClr val="ECFDF5"/>
          </a:solidFill>
          <a:ln w="12700">
            <a:solidFill>
              <a:srgbClr val="6EE7B7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/api/coderbyte/webhook</a:t>
            </a:r>
            <a:endParaRPr lang="en-US" sz="10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kvitterar och köar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53328" y="5020056"/>
            <a:ext cx="237744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6309360" y="4608576"/>
            <a:ext cx="2606040" cy="822960"/>
          </a:xfrm>
          <a:prstGeom prst="roundRect">
            <a:avLst>
              <a:gd name="adj" fmla="val 4444"/>
            </a:avLst>
          </a:prstGeom>
          <a:solidFill>
            <a:srgbClr val="ECFDF5"/>
          </a:solidFill>
          <a:ln w="12700">
            <a:solidFill>
              <a:srgbClr val="6EE7B7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report data</a:t>
            </a:r>
            <a:endParaRPr lang="en-US" sz="10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hämtar hela rapporten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933688" y="5020056"/>
            <a:ext cx="237744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9189720" y="4608576"/>
            <a:ext cx="2606040" cy="822960"/>
          </a:xfrm>
          <a:prstGeom prst="roundRect">
            <a:avLst>
              <a:gd name="adj" fmla="val 4444"/>
            </a:avLst>
          </a:prstGeom>
          <a:solidFill>
            <a:srgbClr val="ECFDF5"/>
          </a:solidFill>
          <a:ln w="12700">
            <a:solidFill>
              <a:srgbClr val="6EE7B7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Resultat på kandidaten</a:t>
            </a:r>
            <a:endParaRPr lang="en-US" sz="10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 och poäng i vyn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5532120"/>
            <a:ext cx="11064240" cy="685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553212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Öppna frågor: var API-nyckeln ska bo (env-variabel eller krypterad per team i DB) och webhook kontra polling. Dygnsgräns på 1 000 anrop gör att listan måste cachas.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SimpleCRM · Arkitektur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Principer som håller ihop bygget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Varför koden ser ut som den gör — och vad som står på tur.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394960" cy="4480560"/>
          </a:xfrm>
          <a:prstGeom prst="roundRect">
            <a:avLst>
              <a:gd name="adj" fmla="val 6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444752"/>
            <a:ext cx="51755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PRINCIPER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50292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Ingen byggkedja. Frontend är en fil som körs som den ligger — ändring till körning tar sekunder.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Affärslogiken bor i data.js. Routes gör HTTP, inte regler.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Databasen och filerna ligger på samma volym, så en backup är en enda ZIP.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används där den tillför något, med kostnaden inbyggd i designen: distillera en gång, filtrera lokalt, cacha per par.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Allt som skickas till en kandidat sparas som en snapshot — inget rekonstrueras i efterhand.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Verifiering med ett kommando i stället för en rad ad-hoc-anrop.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3640" y="1371600"/>
            <a:ext cx="5349240" cy="4480560"/>
          </a:xfrm>
          <a:prstGeom prst="roundRect">
            <a:avLst>
              <a:gd name="adj" fmla="val 6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73368" y="1444752"/>
            <a:ext cx="5129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PÅ TUR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446520" y="1737360"/>
            <a:ext cx="49834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Coderbyte-integration: assessments i dropdown, invite från kandidatvyn, resultat tillbaka via webhook.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 tre kvarstående säkerhetspunkterna: lösenordskomplexitet, gränser vid backup-import, inaktivitetstimeout.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app.js har passerat 7 000 rader — dags att fundera på uppdelning i moduler innan den blir svårnavigerad.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Fler smoke-checkar som permanent svit i stället för scratch-fil per ändring.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SimpleCRM · Arkitektur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SimpleCRM — Arkitektur</dc:title>
  <dc:subject>PptxGenJS Presentation</dc:subject>
  <dc:creator>SimpleCRM</dc:creator>
  <cp:lastModifiedBy>SimpleCRM</cp:lastModifiedBy>
  <cp:revision>1</cp:revision>
  <dcterms:created xsi:type="dcterms:W3CDTF">2026-08-27T12:34:14Z</dcterms:created>
  <dcterms:modified xsi:type="dcterms:W3CDTF">2026-08-27T12:34:14Z</dcterms:modified>
</cp:coreProperties>
</file>